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Garamon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E5485E-E73E-4AAC-913C-98F178FFAB8F}">
  <a:tblStyle styleId="{A4E5485E-E73E-4AAC-913C-98F178FFAB8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font" Target="fonts/Garamond-bold.fntdata"/><Relationship Id="rId10" Type="http://schemas.openxmlformats.org/officeDocument/2006/relationships/slide" Target="slides/slide3.xml"/><Relationship Id="rId21" Type="http://schemas.openxmlformats.org/officeDocument/2006/relationships/font" Target="fonts/Garamond-regular.fntdata"/><Relationship Id="rId13" Type="http://schemas.openxmlformats.org/officeDocument/2006/relationships/slide" Target="slides/slide6.xml"/><Relationship Id="rId24" Type="http://schemas.openxmlformats.org/officeDocument/2006/relationships/font" Target="fonts/Garamond-boldItalic.fntdata"/><Relationship Id="rId12" Type="http://schemas.openxmlformats.org/officeDocument/2006/relationships/slide" Target="slides/slide5.xml"/><Relationship Id="rId23" Type="http://schemas.openxmlformats.org/officeDocument/2006/relationships/font" Target="fonts/Garamon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ca470264c_2_75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ca470264c_2_75:notes"/>
          <p:cNvSpPr/>
          <p:nvPr>
            <p:ph idx="2" type="sldImg"/>
          </p:nvPr>
        </p:nvSpPr>
        <p:spPr>
          <a:xfrm>
            <a:off x="404976" y="1143184"/>
            <a:ext cx="6048061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a470264c_2_80:notes"/>
          <p:cNvSpPr/>
          <p:nvPr>
            <p:ph idx="2" type="sldImg"/>
          </p:nvPr>
        </p:nvSpPr>
        <p:spPr>
          <a:xfrm>
            <a:off x="404976" y="1143184"/>
            <a:ext cx="6048061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bca470264c_2_80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Courses replaced with New Programmes</a:t>
            </a:r>
            <a:endParaRPr/>
          </a:p>
        </p:txBody>
      </p:sp>
      <p:sp>
        <p:nvSpPr>
          <p:cNvPr id="133" name="Google Shape;133;g3bca470264c_2_80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ca470264c_2_91:notes"/>
          <p:cNvSpPr/>
          <p:nvPr>
            <p:ph idx="2" type="sldImg"/>
          </p:nvPr>
        </p:nvSpPr>
        <p:spPr>
          <a:xfrm>
            <a:off x="404976" y="1143184"/>
            <a:ext cx="6048061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bca470264c_2_91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Courses replaced with New Programmes</a:t>
            </a:r>
            <a:endParaRPr/>
          </a:p>
        </p:txBody>
      </p:sp>
      <p:sp>
        <p:nvSpPr>
          <p:cNvPr id="145" name="Google Shape;145;g3bca470264c_2_91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ca470264c_0_10:notes"/>
          <p:cNvSpPr/>
          <p:nvPr>
            <p:ph idx="2" type="sldImg"/>
          </p:nvPr>
        </p:nvSpPr>
        <p:spPr>
          <a:xfrm>
            <a:off x="404976" y="1143184"/>
            <a:ext cx="604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bca470264c_0_10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Courses replaced with New Programmes</a:t>
            </a:r>
            <a:endParaRPr/>
          </a:p>
        </p:txBody>
      </p:sp>
      <p:sp>
        <p:nvSpPr>
          <p:cNvPr id="155" name="Google Shape;155;g3bca470264c_0_10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ca470264c_2_109:notes"/>
          <p:cNvSpPr/>
          <p:nvPr>
            <p:ph idx="2" type="sldImg"/>
          </p:nvPr>
        </p:nvSpPr>
        <p:spPr>
          <a:xfrm>
            <a:off x="404976" y="1143184"/>
            <a:ext cx="6048061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bca470264c_2_109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Courses replaced with New Programmes</a:t>
            </a:r>
            <a:endParaRPr/>
          </a:p>
        </p:txBody>
      </p:sp>
      <p:sp>
        <p:nvSpPr>
          <p:cNvPr id="165" name="Google Shape;165;g3bca470264c_2_109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ca470264c_2_118:notes"/>
          <p:cNvSpPr/>
          <p:nvPr>
            <p:ph idx="2" type="sldImg"/>
          </p:nvPr>
        </p:nvSpPr>
        <p:spPr>
          <a:xfrm>
            <a:off x="404976" y="1143184"/>
            <a:ext cx="6048061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bca470264c_2_118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Courses replaced with New Programmes</a:t>
            </a:r>
            <a:endParaRPr/>
          </a:p>
        </p:txBody>
      </p:sp>
      <p:sp>
        <p:nvSpPr>
          <p:cNvPr id="175" name="Google Shape;175;g3bca470264c_2_118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ca470264c_2_127:notes"/>
          <p:cNvSpPr/>
          <p:nvPr>
            <p:ph idx="2" type="sldImg"/>
          </p:nvPr>
        </p:nvSpPr>
        <p:spPr>
          <a:xfrm>
            <a:off x="404976" y="1143184"/>
            <a:ext cx="6048061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bca470264c_2_127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Courses replaced with New Programmes</a:t>
            </a:r>
            <a:endParaRPr/>
          </a:p>
        </p:txBody>
      </p:sp>
      <p:sp>
        <p:nvSpPr>
          <p:cNvPr id="185" name="Google Shape;185;g3bca470264c_2_127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ca470264c_0_42:notes"/>
          <p:cNvSpPr/>
          <p:nvPr>
            <p:ph idx="2" type="sldImg"/>
          </p:nvPr>
        </p:nvSpPr>
        <p:spPr>
          <a:xfrm>
            <a:off x="404976" y="1143184"/>
            <a:ext cx="6048000" cy="30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bca470264c_0_42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Courses replaced with New Programmes</a:t>
            </a:r>
            <a:endParaRPr/>
          </a:p>
        </p:txBody>
      </p:sp>
      <p:sp>
        <p:nvSpPr>
          <p:cNvPr id="195" name="Google Shape;195;g3bca470264c_0_42:notes"/>
          <p:cNvSpPr txBox="1"/>
          <p:nvPr>
            <p:ph idx="12" type="sldNum"/>
          </p:nvPr>
        </p:nvSpPr>
        <p:spPr>
          <a:xfrm>
            <a:off x="3884620" y="868522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ca470264c_2_136:notes"/>
          <p:cNvSpPr/>
          <p:nvPr>
            <p:ph idx="2" type="sldImg"/>
          </p:nvPr>
        </p:nvSpPr>
        <p:spPr>
          <a:xfrm>
            <a:off x="404976" y="1143184"/>
            <a:ext cx="6048061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bca470264c_2_136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Courses replaced with New Programmes</a:t>
            </a:r>
            <a:endParaRPr/>
          </a:p>
        </p:txBody>
      </p:sp>
      <p:sp>
        <p:nvSpPr>
          <p:cNvPr id="206" name="Google Shape;206;g3bca470264c_2_136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ca470264c_2_146:notes"/>
          <p:cNvSpPr/>
          <p:nvPr>
            <p:ph idx="2" type="sldImg"/>
          </p:nvPr>
        </p:nvSpPr>
        <p:spPr>
          <a:xfrm>
            <a:off x="404976" y="1143184"/>
            <a:ext cx="6048061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bca470264c_2_146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Courses replaced with New Programmes</a:t>
            </a:r>
            <a:endParaRPr/>
          </a:p>
        </p:txBody>
      </p:sp>
      <p:sp>
        <p:nvSpPr>
          <p:cNvPr id="217" name="Google Shape;217;g3bca470264c_2_146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ca470264c_2_156:notes"/>
          <p:cNvSpPr/>
          <p:nvPr>
            <p:ph idx="2" type="sldImg"/>
          </p:nvPr>
        </p:nvSpPr>
        <p:spPr>
          <a:xfrm>
            <a:off x="404976" y="1143184"/>
            <a:ext cx="6048061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bca470264c_2_156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Courses replaced with New Programmes</a:t>
            </a:r>
            <a:endParaRPr/>
          </a:p>
        </p:txBody>
      </p:sp>
      <p:sp>
        <p:nvSpPr>
          <p:cNvPr id="228" name="Google Shape;228;g3bca470264c_2_156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ca470264c_2_165:notes"/>
          <p:cNvSpPr/>
          <p:nvPr>
            <p:ph idx="2" type="sldImg"/>
          </p:nvPr>
        </p:nvSpPr>
        <p:spPr>
          <a:xfrm>
            <a:off x="404976" y="1143184"/>
            <a:ext cx="6048061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bca470264c_2_165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 Courses replaced with New Programmes</a:t>
            </a:r>
            <a:endParaRPr/>
          </a:p>
        </p:txBody>
      </p:sp>
      <p:sp>
        <p:nvSpPr>
          <p:cNvPr id="238" name="Google Shape;238;g3bca470264c_2_165:notes"/>
          <p:cNvSpPr txBox="1"/>
          <p:nvPr>
            <p:ph idx="12" type="sldNum"/>
          </p:nvPr>
        </p:nvSpPr>
        <p:spPr>
          <a:xfrm>
            <a:off x="3884620" y="8685225"/>
            <a:ext cx="2971805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bca470264c_2_175:notes"/>
          <p:cNvSpPr txBox="1"/>
          <p:nvPr>
            <p:ph idx="1" type="body"/>
          </p:nvPr>
        </p:nvSpPr>
        <p:spPr>
          <a:xfrm>
            <a:off x="685802" y="4400556"/>
            <a:ext cx="5486410" cy="3600454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3bca470264c_2_175:notes"/>
          <p:cNvSpPr/>
          <p:nvPr>
            <p:ph idx="2" type="sldImg"/>
          </p:nvPr>
        </p:nvSpPr>
        <p:spPr>
          <a:xfrm>
            <a:off x="404976" y="1143184"/>
            <a:ext cx="6048061" cy="3086451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PT Admission Drive 2021-22-final-2_Page_01.jpg"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37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4260" y="-20538"/>
            <a:ext cx="9180512" cy="51640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26"/>
          <p:cNvCxnSpPr/>
          <p:nvPr/>
        </p:nvCxnSpPr>
        <p:spPr>
          <a:xfrm>
            <a:off x="1520415" y="1545636"/>
            <a:ext cx="6306546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7" name="Google Shape;13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0382" y="112706"/>
            <a:ext cx="4797049" cy="69065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236440" y="1664665"/>
            <a:ext cx="8784976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Pre-Final Year Project Synopsis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/>
          </a:p>
        </p:txBody>
      </p:sp>
      <p:graphicFrame>
        <p:nvGraphicFramePr>
          <p:cNvPr id="139" name="Google Shape;139;p26"/>
          <p:cNvGraphicFramePr/>
          <p:nvPr/>
        </p:nvGraphicFramePr>
        <p:xfrm>
          <a:off x="1696134" y="25126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{A4E5485E-E73E-4AAC-913C-98F178FFAB8F}</a:tableStyleId>
              </a:tblPr>
              <a:tblGrid>
                <a:gridCol w="3065425"/>
                <a:gridCol w="3065425"/>
              </a:tblGrid>
              <a:tr h="241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ROLL</a:t>
                      </a:r>
                      <a:endParaRPr sz="11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NAME</a:t>
                      </a:r>
                      <a:endParaRPr sz="1100"/>
                    </a:p>
                  </a:txBody>
                  <a:tcPr marT="34300" marB="34300" marR="91450" marL="91450"/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2301730191</a:t>
                      </a:r>
                      <a:endParaRPr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ABHINAV KUMAR</a:t>
                      </a:r>
                      <a:endParaRPr sz="1400"/>
                    </a:p>
                  </a:txBody>
                  <a:tcPr marT="34300" marB="34300" marR="91450" marL="91450"/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2301730179 </a:t>
                      </a:r>
                      <a:endParaRPr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ROHIT RAJ</a:t>
                      </a:r>
                      <a:endParaRPr sz="1400"/>
                    </a:p>
                  </a:txBody>
                  <a:tcPr marT="34300" marB="34300" marR="91450" marL="91450"/>
                </a:tc>
              </a:tr>
              <a:tr h="237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2301730152</a:t>
                      </a:r>
                      <a:endParaRPr sz="14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NAMAN JOSHI</a:t>
                      </a:r>
                      <a:endParaRPr sz="1400"/>
                    </a:p>
                  </a:txBody>
                  <a:tcPr marT="34300" marB="34300" marR="91450" marL="91450"/>
                </a:tc>
              </a:tr>
              <a:tr h="21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23021730141</a:t>
                      </a:r>
                      <a:endParaRPr sz="14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ADITYA SUMAN</a:t>
                      </a:r>
                      <a:endParaRPr sz="1400"/>
                    </a:p>
                  </a:txBody>
                  <a:tcPr marT="34300" marB="34300" marR="91450" marL="91450"/>
                </a:tc>
              </a:tr>
            </a:tbl>
          </a:graphicData>
        </a:graphic>
      </p:graphicFrame>
      <p:sp>
        <p:nvSpPr>
          <p:cNvPr id="140" name="Google Shape;140;p26"/>
          <p:cNvSpPr txBox="1"/>
          <p:nvPr/>
        </p:nvSpPr>
        <p:spPr>
          <a:xfrm>
            <a:off x="2299287" y="909041"/>
            <a:ext cx="465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DeepTech System for Intelligent Energy Coordination in Distributed Microgrids</a:t>
            </a:r>
            <a:endParaRPr b="1" i="0" sz="40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236440" y="4299942"/>
            <a:ext cx="858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Faculty Mentor: M</a:t>
            </a:r>
            <a:r>
              <a:rPr b="1" lang="en" sz="1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" sz="18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. Suman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80512" cy="5164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/>
          <p:nvPr/>
        </p:nvSpPr>
        <p:spPr>
          <a:xfrm>
            <a:off x="179512" y="113695"/>
            <a:ext cx="4153701" cy="438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Overview</a:t>
            </a:r>
            <a:endParaRPr b="1" i="0" sz="3200" u="none" cap="none" strike="noStrik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27"/>
          <p:cNvCxnSpPr/>
          <p:nvPr/>
        </p:nvCxnSpPr>
        <p:spPr>
          <a:xfrm>
            <a:off x="0" y="796086"/>
            <a:ext cx="9180513" cy="0"/>
          </a:xfrm>
          <a:prstGeom prst="straightConnector1">
            <a:avLst/>
          </a:prstGeom>
          <a:noFill/>
          <a:ln cap="flat" cmpd="sng" w="25400">
            <a:solidFill>
              <a:srgbClr val="0060A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0" name="Google Shape;15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8" y="4731990"/>
            <a:ext cx="1808820" cy="26001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 txBox="1"/>
          <p:nvPr/>
        </p:nvSpPr>
        <p:spPr>
          <a:xfrm>
            <a:off x="127125" y="844675"/>
            <a:ext cx="8784900" cy="39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Rethinking Microgrid Coordination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Decentralized Agentic Framework</a:t>
            </a:r>
            <a:r>
              <a:rPr lang="en">
                <a:solidFill>
                  <a:schemeClr val="dk1"/>
                </a:solidFill>
              </a:rPr>
              <a:t>: Transitions from a traditional central controller to a multi-agent system where microgrids act as autonomous "Prosumers," negotiating energy trades in a P2P marketplace.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Dual-Layer Intelligence Model</a:t>
            </a:r>
            <a:r>
              <a:rPr lang="en">
                <a:solidFill>
                  <a:schemeClr val="dk1"/>
                </a:solidFill>
              </a:rPr>
              <a:t>: Decouples high-level strategic reasoning from physical execution.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Strategic Layer</a:t>
            </a:r>
            <a:r>
              <a:rPr lang="en">
                <a:solidFill>
                  <a:schemeClr val="dk1"/>
                </a:solidFill>
              </a:rPr>
              <a:t>: LLM-powered agents for market negotiation, planning and user interaction.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">
                <a:solidFill>
                  <a:schemeClr val="dk1"/>
                </a:solidFill>
              </a:rPr>
              <a:t>Tactical Layer</a:t>
            </a:r>
            <a:r>
              <a:rPr lang="en">
                <a:solidFill>
                  <a:schemeClr val="dk1"/>
                </a:solidFill>
              </a:rPr>
              <a:t>: Event-driven MQTT Orchestrators for zero-latency safety and control.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Advanced Predictive Analytics</a:t>
            </a:r>
            <a:r>
              <a:rPr lang="en">
                <a:solidFill>
                  <a:schemeClr val="dk1"/>
                </a:solidFill>
              </a:rPr>
              <a:t>: Integrates LSTM and XGBoost forecasting for load and generation, enabling agents to proactively schedule resources instead of reacting to current states.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N-1 Resiliency &amp; Safety</a:t>
            </a:r>
            <a:r>
              <a:rPr lang="en">
                <a:solidFill>
                  <a:schemeClr val="dk1"/>
                </a:solidFill>
              </a:rPr>
              <a:t>: Implements a mandatory 10% critical energy buffer within the low-level orchestrator to ensure immediate power availability during grid failover or "decision lag".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Privacy-by-Design</a:t>
            </a:r>
            <a:r>
              <a:rPr lang="en">
                <a:solidFill>
                  <a:schemeClr val="dk1"/>
                </a:solidFill>
              </a:rPr>
              <a:t>: </a:t>
            </a:r>
            <a:r>
              <a:rPr b="1" lang="en">
                <a:solidFill>
                  <a:schemeClr val="dk1"/>
                </a:solidFill>
              </a:rPr>
              <a:t>Edge Intelligence</a:t>
            </a:r>
            <a:r>
              <a:rPr lang="en">
                <a:solidFill>
                  <a:schemeClr val="dk1"/>
                </a:solidFill>
              </a:rPr>
              <a:t> with local Private SQLite databases, ensures granular usage data remains in the home.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System Impact</a:t>
            </a:r>
            <a:r>
              <a:rPr lang="en">
                <a:solidFill>
                  <a:schemeClr val="dk1"/>
                </a:solidFill>
              </a:rPr>
              <a:t>: Designed for collaborative communities to maximize renewable self-consumption and significantly reduce operational costs.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80600" cy="51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8"/>
          <p:cNvSpPr/>
          <p:nvPr/>
        </p:nvSpPr>
        <p:spPr>
          <a:xfrm>
            <a:off x="179512" y="113695"/>
            <a:ext cx="4543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Specific Objectives</a:t>
            </a:r>
            <a:endParaRPr b="1" i="0" sz="3200" u="none" cap="none" strike="noStrik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28"/>
          <p:cNvCxnSpPr/>
          <p:nvPr/>
        </p:nvCxnSpPr>
        <p:spPr>
          <a:xfrm>
            <a:off x="0" y="796086"/>
            <a:ext cx="9180600" cy="0"/>
          </a:xfrm>
          <a:prstGeom prst="straightConnector1">
            <a:avLst/>
          </a:prstGeom>
          <a:noFill/>
          <a:ln cap="flat" cmpd="sng" w="25400">
            <a:solidFill>
              <a:srgbClr val="0060A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0" name="Google Shape;1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8" y="4731990"/>
            <a:ext cx="1808820" cy="26001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/>
        </p:nvSpPr>
        <p:spPr>
          <a:xfrm>
            <a:off x="127137" y="1169400"/>
            <a:ext cx="8784900" cy="30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Autonomous Peer-to-Peer Trading</a:t>
            </a:r>
            <a:r>
              <a:rPr lang="en">
                <a:solidFill>
                  <a:schemeClr val="dk1"/>
                </a:solidFill>
              </a:rPr>
              <a:t>: To implement a decentralized marketplace where LLM-powered agents negotiate energy trades autonomously based on local surplus and community demand.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Dual-Layered Real-Time Control</a:t>
            </a:r>
            <a:r>
              <a:rPr lang="en">
                <a:solidFill>
                  <a:schemeClr val="dk1"/>
                </a:solidFill>
              </a:rPr>
              <a:t>: To develop a coordination logic that separates high-level strategic reasoning (LLMs) from sub-second physical actuation (MQTT Orchestrators).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N-1 Resiliency &amp; Safety Buffer</a:t>
            </a:r>
            <a:r>
              <a:rPr lang="en">
                <a:solidFill>
                  <a:schemeClr val="dk1"/>
                </a:solidFill>
              </a:rPr>
              <a:t>: To enforce a mandatory 10% critical energy reserve and automated grid-failover protocols to ensure power continuity during "decision lag" or grid outages.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High-Accuracy Forecasting</a:t>
            </a:r>
            <a:r>
              <a:rPr lang="en">
                <a:solidFill>
                  <a:schemeClr val="dk1"/>
                </a:solidFill>
              </a:rPr>
              <a:t>: To achieve a 15–20% improvement in resource scheduling by integrating XGBoost/LSTM models for individual household consumption and solar generation.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Privacy-Preserving Edge Intelligence</a:t>
            </a:r>
            <a:r>
              <a:rPr lang="en">
                <a:solidFill>
                  <a:schemeClr val="dk1"/>
                </a:solidFill>
              </a:rPr>
              <a:t>: To design a data layer that keeps granular usage telemetry within local </a:t>
            </a:r>
            <a:r>
              <a:rPr b="1" lang="en">
                <a:solidFill>
                  <a:schemeClr val="dk1"/>
                </a:solidFill>
              </a:rPr>
              <a:t>Private SQLite databases</a:t>
            </a:r>
            <a:r>
              <a:rPr lang="en">
                <a:solidFill>
                  <a:schemeClr val="dk1"/>
                </a:solidFill>
              </a:rPr>
              <a:t>, sharing only high-level intents for market coordination.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lang="en">
                <a:solidFill>
                  <a:schemeClr val="dk1"/>
                </a:solidFill>
              </a:rPr>
              <a:t>Sustainability &amp; Cost Optimization</a:t>
            </a:r>
            <a:r>
              <a:rPr lang="en">
                <a:solidFill>
                  <a:schemeClr val="dk1"/>
                </a:solidFill>
              </a:rPr>
              <a:t>: Enables sustainable microgrid system with cost optimization for every node.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1476"/>
            <a:ext cx="9180600" cy="51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9"/>
          <p:cNvSpPr/>
          <p:nvPr/>
        </p:nvSpPr>
        <p:spPr>
          <a:xfrm>
            <a:off x="179512" y="113695"/>
            <a:ext cx="4392488" cy="438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Key Features</a:t>
            </a:r>
            <a:endParaRPr b="1" i="0" sz="3200" u="none" cap="none" strike="noStrik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29"/>
          <p:cNvCxnSpPr/>
          <p:nvPr/>
        </p:nvCxnSpPr>
        <p:spPr>
          <a:xfrm>
            <a:off x="0" y="796086"/>
            <a:ext cx="9180513" cy="0"/>
          </a:xfrm>
          <a:prstGeom prst="straightConnector1">
            <a:avLst/>
          </a:prstGeom>
          <a:noFill/>
          <a:ln cap="flat" cmpd="sng" w="25400">
            <a:solidFill>
              <a:srgbClr val="0060A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0" name="Google Shape;17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8" y="4731990"/>
            <a:ext cx="1808820" cy="26001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/>
          <p:nvPr/>
        </p:nvSpPr>
        <p:spPr>
          <a:xfrm>
            <a:off x="179512" y="970375"/>
            <a:ext cx="8784900" cy="3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chemeClr val="dk1"/>
                </a:solidFill>
              </a:rPr>
              <a:t>Agentic Strategic Reasoning</a:t>
            </a:r>
            <a:r>
              <a:rPr lang="en" sz="1500">
                <a:solidFill>
                  <a:schemeClr val="dk1"/>
                </a:solidFill>
              </a:rPr>
              <a:t>: Autonomous LLM-powered "brains" that handle high-level economic negotiation and long-term trading strategy.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chemeClr val="dk1"/>
                </a:solidFill>
              </a:rPr>
              <a:t>Zero-Latency MQTT Orchestrator</a:t>
            </a:r>
            <a:r>
              <a:rPr lang="en" sz="1500">
                <a:solidFill>
                  <a:schemeClr val="dk1"/>
                </a:solidFill>
              </a:rPr>
              <a:t>: An event-driven tactical governor for sub-second hardware switching and deterministic safety enforcement.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chemeClr val="dk1"/>
                </a:solidFill>
              </a:rPr>
              <a:t>Mandatory 10% Safety Buffer</a:t>
            </a:r>
            <a:r>
              <a:rPr lang="en" sz="1500">
                <a:solidFill>
                  <a:schemeClr val="dk1"/>
                </a:solidFill>
              </a:rPr>
              <a:t>: A proactive energy reserve that ensures N-1 resiliency and power continuity during "decision lag" or sudden demand spikes.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chemeClr val="dk1"/>
                </a:solidFill>
              </a:rPr>
              <a:t>Privacy-Preserving Edge Data</a:t>
            </a:r>
            <a:r>
              <a:rPr lang="en" sz="1500">
                <a:solidFill>
                  <a:schemeClr val="dk1"/>
                </a:solidFill>
              </a:rPr>
              <a:t>: A hybrid storage architecture using Private SQLite (local telemetry) and </a:t>
            </a:r>
            <a:r>
              <a:rPr b="1" lang="en" sz="1500">
                <a:solidFill>
                  <a:schemeClr val="dk1"/>
                </a:solidFill>
              </a:rPr>
              <a:t>PostgreSQL</a:t>
            </a:r>
            <a:r>
              <a:rPr lang="en" sz="1500">
                <a:solidFill>
                  <a:schemeClr val="dk1"/>
                </a:solidFill>
              </a:rPr>
              <a:t> (public marketplace metadata).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chemeClr val="dk1"/>
                </a:solidFill>
              </a:rPr>
              <a:t>Predictive Foresight Engine</a:t>
            </a:r>
            <a:r>
              <a:rPr lang="en" sz="1500">
                <a:solidFill>
                  <a:schemeClr val="dk1"/>
                </a:solidFill>
              </a:rPr>
              <a:t>: Integrated XGBoost and LSTM models for high-accuracy, 24-hour demand and renewable generation forecasting.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chemeClr val="dk1"/>
                </a:solidFill>
              </a:rPr>
              <a:t>Autonomous Grid Failover</a:t>
            </a:r>
            <a:r>
              <a:rPr lang="en" sz="1500">
                <a:solidFill>
                  <a:schemeClr val="dk1"/>
                </a:solidFill>
              </a:rPr>
              <a:t>: Seamless, sub-millisecond transitions between P2P trading, grid connectivity, and local storage to prevent blackouts.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80512" cy="5164038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/>
          <p:nvPr/>
        </p:nvSpPr>
        <p:spPr>
          <a:xfrm>
            <a:off x="179499" y="113700"/>
            <a:ext cx="67335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</a:t>
            </a:r>
            <a:r>
              <a:rPr b="1" lang="en" sz="3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Use Cases</a:t>
            </a:r>
            <a:r>
              <a:rPr b="1" i="0" lang="en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&amp; Scope</a:t>
            </a:r>
            <a:endParaRPr b="1" i="0" sz="3200" u="none" cap="none" strike="noStrik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30"/>
          <p:cNvCxnSpPr/>
          <p:nvPr/>
        </p:nvCxnSpPr>
        <p:spPr>
          <a:xfrm>
            <a:off x="0" y="796086"/>
            <a:ext cx="9180513" cy="0"/>
          </a:xfrm>
          <a:prstGeom prst="straightConnector1">
            <a:avLst/>
          </a:prstGeom>
          <a:noFill/>
          <a:ln cap="flat" cmpd="sng" w="25400">
            <a:solidFill>
              <a:srgbClr val="0060A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0" name="Google Shape;18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8" y="4731990"/>
            <a:ext cx="1808820" cy="260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 txBox="1"/>
          <p:nvPr/>
        </p:nvSpPr>
        <p:spPr>
          <a:xfrm>
            <a:off x="179512" y="970375"/>
            <a:ext cx="8784900" cy="3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Target Use Cases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Campus Microgrid Clusters</a:t>
            </a:r>
            <a:r>
              <a:rPr lang="en" sz="1100">
                <a:solidFill>
                  <a:schemeClr val="dk1"/>
                </a:solidFill>
              </a:rPr>
              <a:t>: Hostels, academic blocks, and labs exchanging energy via LLM agents to reduce campus-wide diesel usage and grid imports.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Prosumer Industrial Estates</a:t>
            </a:r>
            <a:r>
              <a:rPr lang="en" sz="1100">
                <a:solidFill>
                  <a:schemeClr val="dk1"/>
                </a:solidFill>
              </a:rPr>
              <a:t>: Coordinated operation of process loads, rooftop PV, and shared battery storage to lower peak demand charges and maximize self-consumption.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Utility Grid Support</a:t>
            </a:r>
            <a:r>
              <a:rPr lang="en" sz="1100">
                <a:solidFill>
                  <a:schemeClr val="dk1"/>
                </a:solidFill>
              </a:rPr>
              <a:t>: Providing ancillary services like frequency support and black-start capability to the main distribution company during regional instabilities.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Project Scope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Intelligence Layer</a:t>
            </a:r>
            <a:r>
              <a:rPr lang="en" sz="1100">
                <a:solidFill>
                  <a:schemeClr val="dk1"/>
                </a:solidFill>
              </a:rPr>
              <a:t>: Developing high-level LLM agents for autonomous P2P negotiation and XGBoost/LSTM models for 24h predictive forecasting.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Control Layer</a:t>
            </a:r>
            <a:r>
              <a:rPr lang="en" sz="1100">
                <a:solidFill>
                  <a:schemeClr val="dk1"/>
                </a:solidFill>
              </a:rPr>
              <a:t>: Implementing a sub-second MQTT-based "Orchestrator" with a mandatory 10% safety buffer for N-1 hardware resiliency.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Data Layer</a:t>
            </a:r>
            <a:r>
              <a:rPr lang="en" sz="1100">
                <a:solidFill>
                  <a:schemeClr val="dk1"/>
                </a:solidFill>
              </a:rPr>
              <a:t>: Designing a hybrid privacy-centric architecture (Edge-based SQLite and centralized PostgreSQL marketplace).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Simulation Environment</a:t>
            </a:r>
            <a:r>
              <a:rPr lang="en" sz="1100">
                <a:solidFill>
                  <a:schemeClr val="dk1"/>
                </a:solidFill>
              </a:rPr>
              <a:t>: A functional prototype simulating 3–5 interconnected microgrid nodes (focusing on EMS software logic, not hardware fabrication).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80512" cy="516403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/>
          <p:nvPr/>
        </p:nvSpPr>
        <p:spPr>
          <a:xfrm>
            <a:off x="177133" y="75318"/>
            <a:ext cx="8280920" cy="8079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Prototype/Project Flow diagram/Architecture</a:t>
            </a:r>
            <a:endParaRPr b="1" i="0" sz="3200" u="none" cap="none" strike="noStrik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31"/>
          <p:cNvCxnSpPr/>
          <p:nvPr/>
        </p:nvCxnSpPr>
        <p:spPr>
          <a:xfrm>
            <a:off x="-62" y="978486"/>
            <a:ext cx="9180600" cy="0"/>
          </a:xfrm>
          <a:prstGeom prst="straightConnector1">
            <a:avLst/>
          </a:prstGeom>
          <a:noFill/>
          <a:ln cap="flat" cmpd="sng" w="25400">
            <a:solidFill>
              <a:srgbClr val="0060A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0" name="Google Shape;19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8" y="4731990"/>
            <a:ext cx="1808820" cy="260018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1"/>
          <p:cNvSpPr txBox="1"/>
          <p:nvPr/>
        </p:nvSpPr>
        <p:spPr>
          <a:xfrm>
            <a:off x="197800" y="1168400"/>
            <a:ext cx="8784900" cy="32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Edge Data Layer (Privacy-First)</a:t>
            </a:r>
            <a:r>
              <a:rPr lang="en" sz="1200">
                <a:solidFill>
                  <a:schemeClr val="dk1"/>
                </a:solidFill>
              </a:rPr>
              <a:t>: Ingests real-time telemetry (Voltage, Current, SoC) via </a:t>
            </a:r>
            <a:r>
              <a:rPr b="1" lang="en" sz="1200">
                <a:solidFill>
                  <a:schemeClr val="dk1"/>
                </a:solidFill>
              </a:rPr>
              <a:t>MQTT</a:t>
            </a:r>
            <a:r>
              <a:rPr lang="en" sz="1200">
                <a:solidFill>
                  <a:schemeClr val="dk1"/>
                </a:solidFill>
              </a:rPr>
              <a:t> into local </a:t>
            </a:r>
            <a:r>
              <a:rPr b="1" lang="en" sz="1200">
                <a:solidFill>
                  <a:schemeClr val="dk1"/>
                </a:solidFill>
              </a:rPr>
              <a:t>Private SQLite</a:t>
            </a:r>
            <a:r>
              <a:rPr lang="en" sz="1200">
                <a:solidFill>
                  <a:schemeClr val="dk1"/>
                </a:solidFill>
              </a:rPr>
              <a:t> databases. This ensures "Privacy-by-Design," as granular sensor data remains strictly at the node, preventing the exposure of household occupancy patterns to the cloud.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Tactical Orchestrator (Safety Governor)</a:t>
            </a:r>
            <a:r>
              <a:rPr lang="en" sz="1200">
                <a:solidFill>
                  <a:schemeClr val="dk1"/>
                </a:solidFill>
              </a:rPr>
              <a:t>: A deterministic controller that serves as the system's "Fast-Lane." It enforces the </a:t>
            </a:r>
            <a:r>
              <a:rPr b="1" lang="en" sz="1200">
                <a:solidFill>
                  <a:schemeClr val="dk1"/>
                </a:solidFill>
              </a:rPr>
              <a:t>10% critical energy buffer</a:t>
            </a:r>
            <a:r>
              <a:rPr lang="en" sz="1200">
                <a:solidFill>
                  <a:schemeClr val="dk1"/>
                </a:solidFill>
              </a:rPr>
              <a:t> and executes sub-second hardware switching. This layer ensures N-1 resiliency by managing instant grid-failover if the LLM's strategic "decision lag" exceeds physical safety windows.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Strategic LLM Agent (Reasoning Layer)</a:t>
            </a:r>
            <a:r>
              <a:rPr lang="en" sz="1200">
                <a:solidFill>
                  <a:schemeClr val="dk1"/>
                </a:solidFill>
              </a:rPr>
              <a:t>: Operates in the "Slow-Lane," processing </a:t>
            </a:r>
            <a:r>
              <a:rPr b="1" lang="en" sz="1200">
                <a:solidFill>
                  <a:schemeClr val="dk1"/>
                </a:solidFill>
              </a:rPr>
              <a:t>LSTM/XGBoost</a:t>
            </a:r>
            <a:r>
              <a:rPr lang="en" sz="1200">
                <a:solidFill>
                  <a:schemeClr val="dk1"/>
                </a:solidFill>
              </a:rPr>
              <a:t> forecasts and market trends. It utilizes Large Language Models to reason through complex economic trade-offs—such as battery health vs. arbitrage profit—issuing strategic directives via structured JSON commands.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Central Marketplace (Anonymized Hub)</a:t>
            </a:r>
            <a:r>
              <a:rPr lang="en" sz="1200">
                <a:solidFill>
                  <a:schemeClr val="dk1"/>
                </a:solidFill>
              </a:rPr>
              <a:t>: A </a:t>
            </a:r>
            <a:r>
              <a:rPr b="1" lang="en" sz="1200">
                <a:solidFill>
                  <a:schemeClr val="dk1"/>
                </a:solidFill>
              </a:rPr>
              <a:t>PostgreSQL-based</a:t>
            </a:r>
            <a:r>
              <a:rPr lang="en" sz="1200">
                <a:solidFill>
                  <a:schemeClr val="dk1"/>
                </a:solidFill>
              </a:rPr>
              <a:t> "Bulletin Board" where agents post high-level energy surplus/deficit "intents." It facilitates peer discovery and trade settlement without requiring nodes to share sensitive, raw telemetry, optimizing the community-wide energy balance.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solidFill>
                  <a:schemeClr val="dk1"/>
                </a:solidFill>
              </a:rPr>
              <a:t>Dual-Loop Feedback Synchronization</a:t>
            </a:r>
            <a:r>
              <a:rPr lang="en" sz="1200">
                <a:solidFill>
                  <a:schemeClr val="dk1"/>
                </a:solidFill>
              </a:rPr>
              <a:t>: Establishes a continuous handshake between high-level reasoning and low-level execution. The Orchestrator provides the LLM with "Safe Operating Windows," while the LLM provides the Orchestrator with "Economic Setpoints," ensuring a stable yet profitable microgrid ecosystem.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80600" cy="516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2"/>
          <p:cNvSpPr/>
          <p:nvPr/>
        </p:nvSpPr>
        <p:spPr>
          <a:xfrm>
            <a:off x="177133" y="75318"/>
            <a:ext cx="82809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Prototype/Project Flow diagram/Architecture</a:t>
            </a:r>
            <a:endParaRPr b="1" i="0" sz="3200" u="none" cap="none" strike="noStrik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32"/>
          <p:cNvCxnSpPr/>
          <p:nvPr/>
        </p:nvCxnSpPr>
        <p:spPr>
          <a:xfrm>
            <a:off x="-62" y="978486"/>
            <a:ext cx="9180600" cy="0"/>
          </a:xfrm>
          <a:prstGeom prst="straightConnector1">
            <a:avLst/>
          </a:prstGeom>
          <a:noFill/>
          <a:ln cap="flat" cmpd="sng" w="25400">
            <a:solidFill>
              <a:srgbClr val="0060A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0" name="Google Shape;20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8" y="4731990"/>
            <a:ext cx="1808820" cy="26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2"/>
          <p:cNvSpPr txBox="1"/>
          <p:nvPr/>
        </p:nvSpPr>
        <p:spPr>
          <a:xfrm>
            <a:off x="197800" y="1168400"/>
            <a:ext cx="878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2" name="Google Shape;20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8638" y="1073725"/>
            <a:ext cx="6701361" cy="365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80512" cy="516403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3"/>
          <p:cNvSpPr/>
          <p:nvPr/>
        </p:nvSpPr>
        <p:spPr>
          <a:xfrm>
            <a:off x="103415" y="224230"/>
            <a:ext cx="4392488" cy="438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&amp; Resources</a:t>
            </a:r>
            <a:endParaRPr b="1" i="0" sz="3200" u="none" cap="none" strike="noStrik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33"/>
          <p:cNvCxnSpPr/>
          <p:nvPr/>
        </p:nvCxnSpPr>
        <p:spPr>
          <a:xfrm>
            <a:off x="0" y="796086"/>
            <a:ext cx="9180513" cy="0"/>
          </a:xfrm>
          <a:prstGeom prst="straightConnector1">
            <a:avLst/>
          </a:prstGeom>
          <a:noFill/>
          <a:ln cap="flat" cmpd="sng" w="25400">
            <a:solidFill>
              <a:srgbClr val="0060A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1" name="Google Shape;21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8" y="4731990"/>
            <a:ext cx="1808820" cy="26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3"/>
          <p:cNvSpPr txBox="1"/>
          <p:nvPr/>
        </p:nvSpPr>
        <p:spPr>
          <a:xfrm>
            <a:off x="179512" y="970376"/>
            <a:ext cx="8784976" cy="279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325750" y="880025"/>
            <a:ext cx="84537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Data Sources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Kaggle Dataset</a:t>
            </a:r>
            <a:r>
              <a:rPr lang="en">
                <a:solidFill>
                  <a:schemeClr val="dk1"/>
                </a:solidFill>
              </a:rPr>
              <a:t>: High-resolution (15-min) load data for demand modeling.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Environmental Telemetry</a:t>
            </a:r>
            <a:r>
              <a:rPr lang="en">
                <a:solidFill>
                  <a:schemeClr val="dk1"/>
                </a:solidFill>
              </a:rPr>
              <a:t>: Real-time solar irradiance and temperature via weather APIs.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Software &amp; Intelligence Stack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AI Frameworks</a:t>
            </a:r>
            <a:r>
              <a:rPr lang="en">
                <a:solidFill>
                  <a:schemeClr val="dk1"/>
                </a:solidFill>
              </a:rPr>
              <a:t>: PyTorch for forecasting, FSM for orchestration and LLM for reasoning.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Communication</a:t>
            </a:r>
            <a:r>
              <a:rPr lang="en">
                <a:solidFill>
                  <a:schemeClr val="dk1"/>
                </a:solidFill>
              </a:rPr>
              <a:t>: MQTT (Mosquitto) for low-latency, event-driven control signaling.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Hybrid Databases</a:t>
            </a:r>
            <a:r>
              <a:rPr lang="en">
                <a:solidFill>
                  <a:schemeClr val="dk1"/>
                </a:solidFill>
              </a:rPr>
              <a:t>: Local SQLite (Privacy-first) and Centralized PostgreSQL (Marketplace).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Backend Logic</a:t>
            </a:r>
            <a:r>
              <a:rPr lang="en">
                <a:solidFill>
                  <a:schemeClr val="dk1"/>
                </a:solidFill>
              </a:rPr>
              <a:t>: FastAPI for asynchronous P2P trade discovery and settlement.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Prototyping &amp; Simulation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Power System Emulators</a:t>
            </a:r>
            <a:r>
              <a:rPr lang="en">
                <a:solidFill>
                  <a:schemeClr val="dk1"/>
                </a:solidFill>
              </a:rPr>
              <a:t>: Pandapower and Simulink for high-fidelity electrical modeling.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System Scale</a:t>
            </a:r>
            <a:r>
              <a:rPr lang="en">
                <a:solidFill>
                  <a:schemeClr val="dk1"/>
                </a:solidFill>
              </a:rPr>
              <a:t>: Orchestrated framework simulating a 5-10 node microgrid homes.</a:t>
            </a:r>
            <a:endParaRPr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47" y="0"/>
            <a:ext cx="9180512" cy="516403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4"/>
          <p:cNvSpPr/>
          <p:nvPr/>
        </p:nvSpPr>
        <p:spPr>
          <a:xfrm>
            <a:off x="103415" y="224230"/>
            <a:ext cx="4392488" cy="438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Methodology</a:t>
            </a:r>
            <a:endParaRPr b="1" i="0" sz="3200" u="none" cap="none" strike="noStrik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34"/>
          <p:cNvCxnSpPr/>
          <p:nvPr/>
        </p:nvCxnSpPr>
        <p:spPr>
          <a:xfrm>
            <a:off x="0" y="796086"/>
            <a:ext cx="9180513" cy="0"/>
          </a:xfrm>
          <a:prstGeom prst="straightConnector1">
            <a:avLst/>
          </a:prstGeom>
          <a:noFill/>
          <a:ln cap="flat" cmpd="sng" w="25400">
            <a:solidFill>
              <a:srgbClr val="0060A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2" name="Google Shape;22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8" y="4731990"/>
            <a:ext cx="1808820" cy="26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4"/>
          <p:cNvSpPr txBox="1"/>
          <p:nvPr/>
        </p:nvSpPr>
        <p:spPr>
          <a:xfrm>
            <a:off x="179512" y="970376"/>
            <a:ext cx="8784976" cy="279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4"/>
          <p:cNvSpPr txBox="1"/>
          <p:nvPr/>
        </p:nvSpPr>
        <p:spPr>
          <a:xfrm>
            <a:off x="213724" y="979968"/>
            <a:ext cx="86067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F1F1F"/>
                </a:solidFill>
              </a:rPr>
              <a:t>Methodology &amp; Implementation Roadmap</a:t>
            </a:r>
            <a:endParaRPr b="1"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Phase 1: Edge &amp; Data Setup</a:t>
            </a:r>
            <a:endParaRPr b="1">
              <a:solidFill>
                <a:srgbClr val="1F1F1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lang="en">
                <a:solidFill>
                  <a:srgbClr val="1F1F1F"/>
                </a:solidFill>
              </a:rPr>
              <a:t>Establishing the </a:t>
            </a:r>
            <a:r>
              <a:rPr b="1" lang="en">
                <a:solidFill>
                  <a:srgbClr val="1F1F1F"/>
                </a:solidFill>
              </a:rPr>
              <a:t>MQTT backbone</a:t>
            </a:r>
            <a:r>
              <a:rPr lang="en">
                <a:solidFill>
                  <a:srgbClr val="1F1F1F"/>
                </a:solidFill>
              </a:rPr>
              <a:t> and local </a:t>
            </a:r>
            <a:r>
              <a:rPr b="1" lang="en">
                <a:solidFill>
                  <a:srgbClr val="1F1F1F"/>
                </a:solidFill>
              </a:rPr>
              <a:t>SQLite</a:t>
            </a:r>
            <a:r>
              <a:rPr lang="en">
                <a:solidFill>
                  <a:srgbClr val="1F1F1F"/>
                </a:solidFill>
              </a:rPr>
              <a:t> nodes for privacy-centric telemetry.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Phase 2: Predictive Engine Training</a:t>
            </a:r>
            <a:endParaRPr b="1">
              <a:solidFill>
                <a:srgbClr val="1F1F1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lang="en">
                <a:solidFill>
                  <a:srgbClr val="1F1F1F"/>
                </a:solidFill>
              </a:rPr>
              <a:t>Developing </a:t>
            </a:r>
            <a:r>
              <a:rPr b="1" lang="en">
                <a:solidFill>
                  <a:srgbClr val="1F1F1F"/>
                </a:solidFill>
              </a:rPr>
              <a:t>LSTM and XGBoost models</a:t>
            </a:r>
            <a:r>
              <a:rPr lang="en">
                <a:solidFill>
                  <a:srgbClr val="1F1F1F"/>
                </a:solidFill>
              </a:rPr>
              <a:t> for high-accuracy 24h demand and solar forecasting.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Phase 3: Tactical Orchestrator Logic</a:t>
            </a:r>
            <a:endParaRPr b="1">
              <a:solidFill>
                <a:srgbClr val="1F1F1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lang="en">
                <a:solidFill>
                  <a:srgbClr val="1F1F1F"/>
                </a:solidFill>
              </a:rPr>
              <a:t>Coding the deterministic safety governor to enforce the </a:t>
            </a:r>
            <a:r>
              <a:rPr b="1" lang="en">
                <a:solidFill>
                  <a:srgbClr val="1F1F1F"/>
                </a:solidFill>
              </a:rPr>
              <a:t>10% critical buffer</a:t>
            </a:r>
            <a:r>
              <a:rPr lang="en">
                <a:solidFill>
                  <a:srgbClr val="1F1F1F"/>
                </a:solidFill>
              </a:rPr>
              <a:t> and failover.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Phase 4: Strategic Agentic Marketplace</a:t>
            </a:r>
            <a:endParaRPr b="1">
              <a:solidFill>
                <a:srgbClr val="1F1F1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lang="en">
                <a:solidFill>
                  <a:srgbClr val="1F1F1F"/>
                </a:solidFill>
              </a:rPr>
              <a:t>Integrating </a:t>
            </a:r>
            <a:r>
              <a:rPr b="1" lang="en">
                <a:solidFill>
                  <a:srgbClr val="1F1F1F"/>
                </a:solidFill>
              </a:rPr>
              <a:t>LLM-based P2P negotiation</a:t>
            </a:r>
            <a:r>
              <a:rPr lang="en">
                <a:solidFill>
                  <a:srgbClr val="1F1F1F"/>
                </a:solidFill>
              </a:rPr>
              <a:t> and a centralized </a:t>
            </a:r>
            <a:r>
              <a:rPr b="1" lang="en">
                <a:solidFill>
                  <a:srgbClr val="1F1F1F"/>
                </a:solidFill>
              </a:rPr>
              <a:t>PostgreSQL</a:t>
            </a:r>
            <a:r>
              <a:rPr lang="en">
                <a:solidFill>
                  <a:srgbClr val="1F1F1F"/>
                </a:solidFill>
              </a:rPr>
              <a:t> hub for trade settlement.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Phase 5: Simulation &amp; KPI Validation</a:t>
            </a:r>
            <a:endParaRPr b="1">
              <a:solidFill>
                <a:srgbClr val="1F1F1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lang="en">
                <a:solidFill>
                  <a:srgbClr val="1F1F1F"/>
                </a:solidFill>
              </a:rPr>
              <a:t>Deploying a </a:t>
            </a:r>
            <a:r>
              <a:rPr b="1" lang="en">
                <a:solidFill>
                  <a:srgbClr val="1F1F1F"/>
                </a:solidFill>
              </a:rPr>
              <a:t>3–5 node Docker cluster</a:t>
            </a:r>
            <a:r>
              <a:rPr lang="en">
                <a:solidFill>
                  <a:srgbClr val="1F1F1F"/>
                </a:solidFill>
              </a:rPr>
              <a:t> to evaluate resiliency, cost savings, and renewable utilization.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80512" cy="516403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5"/>
          <p:cNvSpPr/>
          <p:nvPr/>
        </p:nvSpPr>
        <p:spPr>
          <a:xfrm>
            <a:off x="103414" y="224230"/>
            <a:ext cx="6844849" cy="438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Expected Results &amp; Impact</a:t>
            </a:r>
            <a:endParaRPr b="1" i="0" sz="3200" u="none" cap="none" strike="noStrik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35"/>
          <p:cNvCxnSpPr/>
          <p:nvPr/>
        </p:nvCxnSpPr>
        <p:spPr>
          <a:xfrm>
            <a:off x="0" y="796086"/>
            <a:ext cx="9180513" cy="0"/>
          </a:xfrm>
          <a:prstGeom prst="straightConnector1">
            <a:avLst/>
          </a:prstGeom>
          <a:noFill/>
          <a:ln cap="flat" cmpd="sng" w="25400">
            <a:solidFill>
              <a:srgbClr val="0060A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3" name="Google Shape;23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8" y="4731990"/>
            <a:ext cx="1808820" cy="26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5"/>
          <p:cNvSpPr txBox="1"/>
          <p:nvPr/>
        </p:nvSpPr>
        <p:spPr>
          <a:xfrm>
            <a:off x="179512" y="970375"/>
            <a:ext cx="87849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F1F1F"/>
                </a:solidFill>
              </a:rPr>
              <a:t>Expected Results &amp; Impact</a:t>
            </a:r>
            <a:endParaRPr b="1"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Optimized Renewable Utilization</a:t>
            </a:r>
            <a:r>
              <a:rPr lang="en">
                <a:solidFill>
                  <a:srgbClr val="1F1F1F"/>
                </a:solidFill>
              </a:rPr>
              <a:t>: Achieving</a:t>
            </a:r>
            <a:r>
              <a:rPr b="1" lang="en">
                <a:solidFill>
                  <a:srgbClr val="1F1F1F"/>
                </a:solidFill>
              </a:rPr>
              <a:t> renewable self-consumption</a:t>
            </a:r>
            <a:r>
              <a:rPr lang="en">
                <a:solidFill>
                  <a:srgbClr val="1F1F1F"/>
                </a:solidFill>
              </a:rPr>
              <a:t> by synchronizing agentic P2P trades with peak solar generation windows.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Economic Cost Reduction</a:t>
            </a:r>
            <a:r>
              <a:rPr lang="en">
                <a:solidFill>
                  <a:srgbClr val="1F1F1F"/>
                </a:solidFill>
              </a:rPr>
              <a:t>: Targeted</a:t>
            </a:r>
            <a:r>
              <a:rPr b="1" lang="en">
                <a:solidFill>
                  <a:srgbClr val="1F1F1F"/>
                </a:solidFill>
              </a:rPr>
              <a:t> reduction</a:t>
            </a:r>
            <a:r>
              <a:rPr lang="en">
                <a:solidFill>
                  <a:srgbClr val="1F1F1F"/>
                </a:solidFill>
              </a:rPr>
              <a:t> in community energy expenditure through intelligent arbitrage and peak-shaving strategies.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Enhanced System Reliability</a:t>
            </a:r>
            <a:r>
              <a:rPr lang="en">
                <a:solidFill>
                  <a:srgbClr val="1F1F1F"/>
                </a:solidFill>
              </a:rPr>
              <a:t>: Seamless </a:t>
            </a:r>
            <a:r>
              <a:rPr b="1" lang="en">
                <a:solidFill>
                  <a:srgbClr val="1F1F1F"/>
                </a:solidFill>
              </a:rPr>
              <a:t>sub-second failover</a:t>
            </a:r>
            <a:r>
              <a:rPr lang="en">
                <a:solidFill>
                  <a:srgbClr val="1F1F1F"/>
                </a:solidFill>
              </a:rPr>
              <a:t> and zero downtime during local grid outages, guaranteed by the mandatory </a:t>
            </a:r>
            <a:r>
              <a:rPr b="1" lang="en">
                <a:solidFill>
                  <a:srgbClr val="1F1F1F"/>
                </a:solidFill>
              </a:rPr>
              <a:t>10% safety buffer</a:t>
            </a:r>
            <a:r>
              <a:rPr lang="en">
                <a:solidFill>
                  <a:srgbClr val="1F1F1F"/>
                </a:solidFill>
              </a:rPr>
              <a:t>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High-Accuracy Forecasting</a:t>
            </a:r>
            <a:r>
              <a:rPr lang="en">
                <a:solidFill>
                  <a:srgbClr val="1F1F1F"/>
                </a:solidFill>
              </a:rPr>
              <a:t>: Significant improvement in predictive performance, targeting a low </a:t>
            </a:r>
            <a:r>
              <a:rPr b="1" lang="en">
                <a:solidFill>
                  <a:srgbClr val="1F1F1F"/>
                </a:solidFill>
              </a:rPr>
              <a:t>Mean Absolute Percentage Error (MAPE)</a:t>
            </a:r>
            <a:r>
              <a:rPr lang="en">
                <a:solidFill>
                  <a:srgbClr val="1F1F1F"/>
                </a:solidFill>
              </a:rPr>
              <a:t> for load and generation.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Privacy-Preserving Intelligence</a:t>
            </a:r>
            <a:r>
              <a:rPr lang="en">
                <a:solidFill>
                  <a:srgbClr val="1F1F1F"/>
                </a:solidFill>
              </a:rPr>
              <a:t>: Demonstration of a </a:t>
            </a:r>
            <a:r>
              <a:rPr b="1" lang="en">
                <a:solidFill>
                  <a:srgbClr val="1F1F1F"/>
                </a:solidFill>
              </a:rPr>
              <a:t>zero-leakage edge architecture</a:t>
            </a:r>
            <a:r>
              <a:rPr lang="en">
                <a:solidFill>
                  <a:srgbClr val="1F1F1F"/>
                </a:solidFill>
              </a:rPr>
              <a:t>, ensuring sensitive household telemetry never leaves the local node.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Sustainability &amp; Scalability</a:t>
            </a:r>
            <a:r>
              <a:rPr lang="en">
                <a:solidFill>
                  <a:srgbClr val="1F1F1F"/>
                </a:solidFill>
              </a:rPr>
              <a:t>: A reduction in community carbon footprint and a proven software blueprint for autonomous, decentralized smart city energy networks.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9180512" cy="5164038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6"/>
          <p:cNvSpPr/>
          <p:nvPr/>
        </p:nvSpPr>
        <p:spPr>
          <a:xfrm>
            <a:off x="103414" y="224230"/>
            <a:ext cx="6844849" cy="4385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Project Timeline</a:t>
            </a:r>
            <a:endParaRPr b="1" i="0" sz="3200" u="none" cap="none" strike="noStrike">
              <a:solidFill>
                <a:srgbClr val="E31E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36"/>
          <p:cNvCxnSpPr/>
          <p:nvPr/>
        </p:nvCxnSpPr>
        <p:spPr>
          <a:xfrm>
            <a:off x="0" y="796086"/>
            <a:ext cx="9180513" cy="0"/>
          </a:xfrm>
          <a:prstGeom prst="straightConnector1">
            <a:avLst/>
          </a:prstGeom>
          <a:noFill/>
          <a:ln cap="flat" cmpd="sng" w="25400">
            <a:solidFill>
              <a:srgbClr val="0060A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3" name="Google Shape;24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8" y="4731990"/>
            <a:ext cx="1808820" cy="26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6"/>
          <p:cNvSpPr txBox="1"/>
          <p:nvPr/>
        </p:nvSpPr>
        <p:spPr>
          <a:xfrm>
            <a:off x="179512" y="970376"/>
            <a:ext cx="8784976" cy="2795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6"/>
          <p:cNvSpPr txBox="1"/>
          <p:nvPr/>
        </p:nvSpPr>
        <p:spPr>
          <a:xfrm>
            <a:off x="179512" y="955697"/>
            <a:ext cx="8208900" cy="33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1F1F1F"/>
                </a:solidFill>
              </a:rPr>
              <a:t>Project Timeline &amp; Milestones</a:t>
            </a:r>
            <a:endParaRPr b="1"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Month 1: System Design &amp; Data Acquisition</a:t>
            </a:r>
            <a:endParaRPr b="1">
              <a:solidFill>
                <a:srgbClr val="1F1F1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lang="en">
                <a:solidFill>
                  <a:srgbClr val="1F1F1F"/>
                </a:solidFill>
              </a:rPr>
              <a:t>Literature review, architecture finalization, and preprocessing of smart meter/weather datasets.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Month 2: Infrastructure &amp; Predictive Modeling</a:t>
            </a:r>
            <a:endParaRPr b="1">
              <a:solidFill>
                <a:srgbClr val="1F1F1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lang="en">
                <a:solidFill>
                  <a:srgbClr val="1F1F1F"/>
                </a:solidFill>
              </a:rPr>
              <a:t>Deployment of </a:t>
            </a:r>
            <a:r>
              <a:rPr b="1" lang="en">
                <a:solidFill>
                  <a:srgbClr val="1F1F1F"/>
                </a:solidFill>
              </a:rPr>
              <a:t>MQTT/SQLite</a:t>
            </a:r>
            <a:r>
              <a:rPr lang="en">
                <a:solidFill>
                  <a:srgbClr val="1F1F1F"/>
                </a:solidFill>
              </a:rPr>
              <a:t> backbone and training of </a:t>
            </a:r>
            <a:r>
              <a:rPr b="1" lang="en">
                <a:solidFill>
                  <a:srgbClr val="1F1F1F"/>
                </a:solidFill>
              </a:rPr>
              <a:t>LSTM/XGBoost</a:t>
            </a:r>
            <a:r>
              <a:rPr lang="en">
                <a:solidFill>
                  <a:srgbClr val="1F1F1F"/>
                </a:solidFill>
              </a:rPr>
              <a:t> forecasting engines.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Month 3: Agent Logic &amp; Market Integration</a:t>
            </a:r>
            <a:endParaRPr b="1">
              <a:solidFill>
                <a:srgbClr val="1F1F1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lang="en">
                <a:solidFill>
                  <a:srgbClr val="1F1F1F"/>
                </a:solidFill>
              </a:rPr>
              <a:t>Development of the </a:t>
            </a:r>
            <a:r>
              <a:rPr b="1" lang="en">
                <a:solidFill>
                  <a:srgbClr val="1F1F1F"/>
                </a:solidFill>
              </a:rPr>
              <a:t>Tactical Orchestrator</a:t>
            </a:r>
            <a:r>
              <a:rPr lang="en">
                <a:solidFill>
                  <a:srgbClr val="1F1F1F"/>
                </a:solidFill>
              </a:rPr>
              <a:t> and </a:t>
            </a:r>
            <a:r>
              <a:rPr b="1" lang="en">
                <a:solidFill>
                  <a:srgbClr val="1F1F1F"/>
                </a:solidFill>
              </a:rPr>
              <a:t>LLM negotiation agents</a:t>
            </a:r>
            <a:r>
              <a:rPr lang="en">
                <a:solidFill>
                  <a:srgbClr val="1F1F1F"/>
                </a:solidFill>
              </a:rPr>
              <a:t> with a PostgreSQL hub.</a:t>
            </a:r>
            <a:endParaRPr>
              <a:solidFill>
                <a:srgbClr val="1F1F1F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●"/>
            </a:pPr>
            <a:r>
              <a:rPr b="1" lang="en">
                <a:solidFill>
                  <a:srgbClr val="1F1F1F"/>
                </a:solidFill>
              </a:rPr>
              <a:t>Month 4: Simulation, Testing &amp; Evaluation</a:t>
            </a:r>
            <a:endParaRPr b="1">
              <a:solidFill>
                <a:srgbClr val="1F1F1F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Char char="○"/>
            </a:pPr>
            <a:r>
              <a:rPr b="1" lang="en">
                <a:solidFill>
                  <a:srgbClr val="1F1F1F"/>
                </a:solidFill>
              </a:rPr>
              <a:t>3–5 node Docker simulation</a:t>
            </a:r>
            <a:r>
              <a:rPr lang="en">
                <a:solidFill>
                  <a:srgbClr val="1F1F1F"/>
                </a:solidFill>
              </a:rPr>
              <a:t>, N-1 resiliency stress testing, and final KPI performance analysis</a:t>
            </a:r>
            <a:r>
              <a:rPr lang="en">
                <a:solidFill>
                  <a:srgbClr val="1F1F1F"/>
                </a:solidFill>
              </a:rPr>
              <a:t>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80512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08" y="4731990"/>
            <a:ext cx="1808820" cy="26001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7"/>
          <p:cNvSpPr txBox="1"/>
          <p:nvPr/>
        </p:nvSpPr>
        <p:spPr>
          <a:xfrm>
            <a:off x="1835696" y="2031690"/>
            <a:ext cx="5651034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200" u="none" cap="none" strike="noStrike">
                <a:solidFill>
                  <a:srgbClr val="0060AA"/>
                </a:solidFill>
                <a:latin typeface="Garamond"/>
                <a:ea typeface="Garamond"/>
                <a:cs typeface="Garamond"/>
                <a:sym typeface="Garamond"/>
              </a:rPr>
              <a:t>THANK</a:t>
            </a:r>
            <a:r>
              <a:rPr b="0" i="0" lang="en" sz="7200" u="none" cap="none" strike="noStrik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 </a:t>
            </a:r>
            <a:r>
              <a:rPr b="0" i="0" lang="en" sz="7200" u="none" cap="none" strike="noStrike">
                <a:solidFill>
                  <a:srgbClr val="E31E24"/>
                </a:solidFill>
                <a:latin typeface="Garamond"/>
                <a:ea typeface="Garamond"/>
                <a:cs typeface="Garamond"/>
                <a:sym typeface="Garamond"/>
              </a:rPr>
              <a:t>YOU</a:t>
            </a:r>
            <a:endParaRPr b="0" i="0" sz="7200" u="none" cap="none" strike="noStrike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